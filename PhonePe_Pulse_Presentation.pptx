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 (₹ Cr)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Financial Services</c:v>
                  </c:pt>
                  <c:pt idx="1">
                    <c:v>Recharge &amp; Bill</c:v>
                  </c:pt>
                  <c:pt idx="2">
                    <c:v>Others</c:v>
                  </c:pt>
                  <c:pt idx="3">
                    <c:v>Merchant Payments</c:v>
                  </c:pt>
                  <c:pt idx="4">
                    <c:v>Peer-to-peer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1181</c:v>
                </c:pt>
                <c:pt idx="1">
                  <c:v>115032</c:v>
                </c:pt>
                <c:pt idx="2">
                  <c:v>652</c:v>
                </c:pt>
                <c:pt idx="3">
                  <c:v>596240</c:v>
                </c:pt>
                <c:pt idx="4">
                  <c:v>2232737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8E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e1f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8E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C12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2FF"/>
              </a:solidFill>
              <a:effectLst/>
            </c:spPr>
          </c:dPt>
          <c:dPt>
            <c:idx val="1"/>
            <c:bubble3D val="0"/>
            <c:spPr>
              <a:solidFill>
                <a:srgbClr val="A855F7"/>
              </a:solidFill>
              <a:effectLst/>
            </c:spPr>
          </c:dPt>
          <c:dPt>
            <c:idx val="2"/>
            <c:bubble3D val="0"/>
            <c:spPr>
              <a:solidFill>
                <a:srgbClr val="FF6B35"/>
              </a:solidFill>
              <a:effectLst/>
            </c:spPr>
          </c:dPt>
          <c:dPt>
            <c:idx val="3"/>
            <c:bubble3D val="0"/>
            <c:spPr>
              <a:solidFill>
                <a:srgbClr val="34D399"/>
              </a:solidFill>
              <a:effectLst/>
            </c:spPr>
          </c:dPt>
          <c:dPt>
            <c:idx val="4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bubble3D val="0"/>
            <c:spPr>
              <a:solidFill>
                <a:srgbClr val="5EEAD4"/>
              </a:solidFill>
              <a:effectLst/>
            </c:spPr>
          </c:dPt>
          <c:dPt>
            <c:idx val="6"/>
            <c:bubble3D val="0"/>
            <c:spPr>
              <a:solidFill>
                <a:srgbClr val="F472B6"/>
              </a:solidFill>
              <a:effectLst/>
            </c:spPr>
          </c:dPt>
          <c:dPt>
            <c:idx val="7"/>
            <c:bubble3D val="0"/>
            <c:spPr>
              <a:solidFill>
                <a:srgbClr val="FB923C"/>
              </a:solidFill>
              <a:effectLst/>
            </c:spPr>
          </c:dPt>
          <c:dPt>
            <c:idx val="8"/>
            <c:bubble3D val="0"/>
            <c:spPr>
              <a:solidFill>
                <a:srgbClr val="818CF8"/>
              </a:solidFill>
              <a:effectLst/>
            </c:spPr>
          </c:dPt>
          <c:dPt>
            <c:idx val="9"/>
            <c:bubble3D val="0"/>
            <c:spPr>
              <a:solidFill>
                <a:srgbClr val="34D39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20F2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20F2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20F2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20F2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20F2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20F2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20F2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20F2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20F2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9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20F2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Xiaomi</c:v>
                </c:pt>
                <c:pt idx="1">
                  <c:v>Vivo</c:v>
                </c:pt>
                <c:pt idx="2">
                  <c:v>Samsung</c:v>
                </c:pt>
                <c:pt idx="3">
                  <c:v>Oppo</c:v>
                </c:pt>
                <c:pt idx="4">
                  <c:v>Realme</c:v>
                </c:pt>
                <c:pt idx="5">
                  <c:v>Others</c:v>
                </c:pt>
                <c:pt idx="6">
                  <c:v>Apple</c:v>
                </c:pt>
                <c:pt idx="7">
                  <c:v>OnePlus</c:v>
                </c:pt>
                <c:pt idx="8">
                  <c:v>Motorola</c:v>
                </c:pt>
                <c:pt idx="9">
                  <c:v>Huawei</c:v>
                </c:pt>
              </c:strCache>
            </c:strRef>
          </c:cat>
          <c:val>
            <c:numRef>
              <c:f>Sheet1!$B$2:$B$11</c:f>
              <c:numCache>
                <c:ptCount val="10"/>
                <c:pt idx="0">
                  <c:v>24.2</c:v>
                </c:pt>
                <c:pt idx="1">
                  <c:v>22.2</c:v>
                </c:pt>
                <c:pt idx="2">
                  <c:v>18</c:v>
                </c:pt>
                <c:pt idx="3">
                  <c:v>13.8</c:v>
                </c:pt>
                <c:pt idx="4">
                  <c:v>8.95</c:v>
                </c:pt>
                <c:pt idx="5">
                  <c:v>5.43</c:v>
                </c:pt>
                <c:pt idx="6">
                  <c:v>3.5</c:v>
                </c:pt>
                <c:pt idx="7">
                  <c:v>2.1</c:v>
                </c:pt>
                <c:pt idx="8">
                  <c:v>1.2</c:v>
                </c:pt>
                <c:pt idx="9">
                  <c:v>0.6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 (Millions)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18CF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B92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72B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0C2FF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Xiaomi</c:v>
                  </c:pt>
                  <c:pt idx="1">
                    <c:v>Vivo</c:v>
                  </c:pt>
                  <c:pt idx="2">
                    <c:v>Samsung</c:v>
                  </c:pt>
                  <c:pt idx="3">
                    <c:v>Oppo</c:v>
                  </c:pt>
                  <c:pt idx="4">
                    <c:v>Realme</c:v>
                  </c:pt>
                  <c:pt idx="5">
                    <c:v>Others</c:v>
                  </c:pt>
                  <c:pt idx="6">
                    <c:v>Apple</c:v>
                  </c:pt>
                  <c:pt idx="7">
                    <c:v>OnePlus</c:v>
                  </c:pt>
                  <c:pt idx="8">
                    <c:v>Motorola</c:v>
                  </c:pt>
                  <c:pt idx="9">
                    <c:v>Huawei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21.78</c:v>
                </c:pt>
                <c:pt idx="1">
                  <c:v>19.98</c:v>
                </c:pt>
                <c:pt idx="2">
                  <c:v>16.2</c:v>
                </c:pt>
                <c:pt idx="3">
                  <c:v>12.42</c:v>
                </c:pt>
                <c:pt idx="4">
                  <c:v>8.05</c:v>
                </c:pt>
                <c:pt idx="5">
                  <c:v>4.89</c:v>
                </c:pt>
                <c:pt idx="6">
                  <c:v>3.15</c:v>
                </c:pt>
                <c:pt idx="7">
                  <c:v>1.89</c:v>
                </c:pt>
                <c:pt idx="8">
                  <c:v>1.08</c:v>
                </c:pt>
                <c:pt idx="9">
                  <c:v>0.54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D9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5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3657600" cy="3657600"/>
          </a:xfrm>
          <a:prstGeom prst="ellipse">
            <a:avLst/>
          </a:prstGeom>
          <a:solidFill>
            <a:srgbClr val="6739B7">
              <a:alpha val="20000"/>
            </a:srgbClr>
          </a:solidFill>
          <a:ln w="12700">
            <a:solidFill>
              <a:srgbClr val="6739B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457200"/>
            <a:ext cx="2560320" cy="2560320"/>
          </a:xfrm>
          <a:prstGeom prst="ellipse">
            <a:avLst/>
          </a:prstGeom>
          <a:solidFill>
            <a:srgbClr val="00C2FF">
              <a:alpha val="12000"/>
            </a:srgbClr>
          </a:solidFill>
          <a:ln w="12700">
            <a:solidFill>
              <a:srgbClr val="00C2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💜 PhonePe Pulse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Insights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73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Insights &amp; Strategic Recommendations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5029200" cy="54864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pPr indent="0" marL="0">
              <a:buNone/>
            </a:pPr>
            <a:r>
              <a:rPr lang="en-US" sz="1100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Digital Payments   </a:t>
            </a:r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1100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MySQL · Streamlit · Plotly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0F2D"/>
          </a:solidFill>
          <a:ln w="12700">
            <a:solidFill>
              <a:srgbClr val="120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502920" cy="713232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2435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536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source, tech stack &amp; architecture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03120"/>
            <a:ext cx="502920" cy="713232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9456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1579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Metrics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4505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volume, value &amp; user stats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17520"/>
            <a:ext cx="502920" cy="713232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0896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0723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Business Case Studies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3649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analysis findings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931920"/>
            <a:ext cx="502920" cy="713232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02336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3986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District Insights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2793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performance breakdown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118872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188720"/>
            <a:ext cx="502920" cy="713232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28016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12435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Penetration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1536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trajectory &amp; untapped markets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210312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103120"/>
            <a:ext cx="502920" cy="713232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19456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0680" y="21579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 &amp; Dashboard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24505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dashboard features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301752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017520"/>
            <a:ext cx="502920" cy="713232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10896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40680" y="30723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40680" y="33649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actions for growth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3291840"/>
          </a:xfrm>
          <a:prstGeom prst="rect">
            <a:avLst/>
          </a:prstGeom>
          <a:solidFill>
            <a:srgbClr val="1C1240"/>
          </a:solidFill>
          <a:ln w="12700">
            <a:solidFill>
              <a:srgbClr val="6739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011680" cy="475488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243584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 Source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8105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PhonePe Pulse GitHub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Public transaction dataset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907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JSON format — state × year × quarter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50592" y="1188720"/>
            <a:ext cx="2011680" cy="3291840"/>
          </a:xfrm>
          <a:prstGeom prst="rect">
            <a:avLst/>
          </a:prstGeom>
          <a:solidFill>
            <a:srgbClr val="1C1240"/>
          </a:solidFill>
          <a:ln w="12700">
            <a:solidFill>
              <a:srgbClr val="6739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188720"/>
            <a:ext cx="2011680" cy="475488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1243584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42032" y="18105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MySQL 8.0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42032" y="2359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9 tables loaded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42032" y="2907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114,799 total rows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26864" y="1188720"/>
            <a:ext cx="2011680" cy="3291840"/>
          </a:xfrm>
          <a:prstGeom prst="rect">
            <a:avLst/>
          </a:prstGeom>
          <a:solidFill>
            <a:srgbClr val="1C1240"/>
          </a:solidFill>
          <a:ln w="12700">
            <a:solidFill>
              <a:srgbClr val="6739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188720"/>
            <a:ext cx="2011680" cy="475488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0016" y="1243584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Analysis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18304" y="18105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Python + Pandas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18304" y="2359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Matplotlib &amp; Seaborn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18304" y="2907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21 business charts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03136" y="1188720"/>
            <a:ext cx="2011680" cy="3291840"/>
          </a:xfrm>
          <a:prstGeom prst="rect">
            <a:avLst/>
          </a:prstGeom>
          <a:solidFill>
            <a:srgbClr val="1C1240"/>
          </a:solidFill>
          <a:ln w="12700">
            <a:solidFill>
              <a:srgbClr val="6739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3136" y="1188720"/>
            <a:ext cx="2011680" cy="475488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76288" y="1243584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94576" y="18105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Streamlit app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94576" y="2359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Plotly interactive charts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94576" y="2907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India choropleth map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0818"/>
          </a:solidFill>
          <a:ln w="12700">
            <a:solidFill>
              <a:srgbClr val="0A08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177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7200" y="48920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Covered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194560" y="46177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194560" y="48920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931920" y="46177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114K+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931920" y="48920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Loaded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69280" y="46177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669280" y="48920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Generated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406640" y="46177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406640" y="48920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0F2D"/>
          </a:solidFill>
          <a:ln w="12700">
            <a:solidFill>
              <a:srgbClr val="120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011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011680" cy="73152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73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21,237M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938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Transactions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042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+ Cards + Wallets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1143000"/>
            <a:ext cx="2011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143000"/>
            <a:ext cx="201168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325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₹29,45,843Cr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42032" y="1938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Payment Value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42032" y="23042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all years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1143000"/>
            <a:ext cx="2011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143000"/>
            <a:ext cx="201168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1325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₹1,387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18304" y="1938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 Value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8304" y="23042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03136" y="1143000"/>
            <a:ext cx="2011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1143000"/>
            <a:ext cx="201168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94576" y="1325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530.08M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94576" y="1938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94576" y="23042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states · all years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3291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3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2024 Snapshot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3703320"/>
            <a:ext cx="3931920" cy="274320"/>
          </a:xfrm>
          <a:prstGeom prst="rect">
            <a:avLst/>
          </a:prstGeom>
          <a:solidFill>
            <a:srgbClr val="F4F0FF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39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51760" y="3739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73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28,21,92,55,839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005072"/>
            <a:ext cx="3931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41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Value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51760" y="4041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73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₹35,99,880 Cr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306824"/>
            <a:ext cx="3931920" cy="274320"/>
          </a:xfrm>
          <a:prstGeom prst="rect">
            <a:avLst/>
          </a:prstGeom>
          <a:solidFill>
            <a:srgbClr val="F4F0FF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3434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Value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51760" y="43434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73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₹1,276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608576"/>
            <a:ext cx="3931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6451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States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51760" y="46451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73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3291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3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Category Mix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846320" y="37033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06640" y="3739896"/>
            <a:ext cx="1371600" cy="164592"/>
          </a:xfrm>
          <a:prstGeom prst="rect">
            <a:avLst/>
          </a:prstGeom>
          <a:solidFill>
            <a:srgbClr val="E2D9F3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06640" y="3739896"/>
            <a:ext cx="1042416" cy="164592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23960" y="37033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3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46320" y="39776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406640" y="4014216"/>
            <a:ext cx="1371600" cy="164592"/>
          </a:xfrm>
          <a:prstGeom prst="rect">
            <a:avLst/>
          </a:prstGeom>
          <a:solidFill>
            <a:srgbClr val="E2D9F3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06640" y="4014216"/>
            <a:ext cx="274320" cy="1645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23960" y="39776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46320" y="42519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 &amp; Bill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406640" y="4288536"/>
            <a:ext cx="1371600" cy="164592"/>
          </a:xfrm>
          <a:prstGeom prst="rect">
            <a:avLst/>
          </a:prstGeom>
          <a:solidFill>
            <a:srgbClr val="E2D9F3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06640" y="4288536"/>
            <a:ext cx="54864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23960" y="425196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46320" y="45262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Svcs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406640" y="4562856"/>
            <a:ext cx="1371600" cy="164592"/>
          </a:xfrm>
          <a:prstGeom prst="rect">
            <a:avLst/>
          </a:prstGeom>
          <a:solidFill>
            <a:srgbClr val="E2D9F3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06640" y="4562856"/>
            <a:ext cx="36576" cy="1645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823960" y="452628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0.04%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846320" y="48006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406640" y="4837176"/>
            <a:ext cx="1371600" cy="164592"/>
          </a:xfrm>
          <a:prstGeom prst="rect">
            <a:avLst/>
          </a:prstGeom>
          <a:solidFill>
            <a:srgbClr val="E2D9F3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406640" y="4837176"/>
            <a:ext cx="36576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823960" y="480060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0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Transaction Dynamics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18488"/>
            <a:ext cx="164592" cy="16459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819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leads with 75.79% of total amount (₹22,32,737 Cr)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112264"/>
            <a:ext cx="164592" cy="16459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20756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payments #2 at 20.24% — ₹5,96,240 Cr total value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164592" cy="16459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25694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 &amp; Bill: 3.9% (₹1,15,032 Cr) — steady everyday usage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099816"/>
            <a:ext cx="164592" cy="16459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30632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+ Others combined &lt;1% of total value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93592"/>
            <a:ext cx="164592" cy="16459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35570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consistently peaks every year — festive season effect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4087368"/>
            <a:ext cx="164592" cy="16459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40507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North-eastern states lowest adoption — prime growth target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Type — Amount Breakdown (All Time)</a:t>
            </a:r>
            <a:endParaRPr lang="en-US" sz="13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663440" y="155448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0F2D"/>
          </a:solidFill>
          <a:ln w="12700">
            <a:solidFill>
              <a:srgbClr val="120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Dominance &amp; User Engagement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3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Brand Market Share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55448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3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Brands by Users (2022 Q1)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663440" y="1554480"/>
          <a:ext cx="42976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4754880" y="37307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3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Insights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54880" y="4050792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754880" y="4050792"/>
            <a:ext cx="54864" cy="256032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64608" y="40782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Registered Users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223760" y="40690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73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530.08M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54880" y="434340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54880" y="4343400"/>
            <a:ext cx="54864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64608" y="43708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 Opens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223760" y="43616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32.63B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754880" y="4636008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754880" y="4636008"/>
            <a:ext cx="54864" cy="2560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64608" y="4663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Engagement Ratio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223760" y="46542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61.5x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754880" y="4928616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754880" y="4928616"/>
            <a:ext cx="54864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864608" y="49560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Brand (2022 Q1)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223760" y="494690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Xiaomi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Brand Year Filter: 2022 Q1  |  Brand data available up to 2022 in PhonePe Pulse dataset.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0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Penetration &amp; Growth Potential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965960" cy="1463040"/>
          </a:xfrm>
          <a:prstGeom prst="rect">
            <a:avLst/>
          </a:prstGeom>
          <a:solidFill>
            <a:srgbClr val="0D3350"/>
          </a:solidFill>
          <a:ln w="1270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1,274K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(Q2 2024)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policies this quarter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50592" y="1143000"/>
            <a:ext cx="1965960" cy="1463040"/>
          </a:xfrm>
          <a:prstGeom prst="rect">
            <a:avLst/>
          </a:prstGeom>
          <a:solidFill>
            <a:srgbClr val="0D3350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12344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₹193Cr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42032" y="1737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(Q2 2024)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42032" y="2011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premium value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26864" y="1143000"/>
            <a:ext cx="1965960" cy="1463040"/>
          </a:xfrm>
          <a:prstGeom prst="rect">
            <a:avLst/>
          </a:prstGeom>
          <a:solidFill>
            <a:srgbClr val="0D335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18304" y="12344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0.0066%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18304" y="1737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18304" y="2011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total transactions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03136" y="1143000"/>
            <a:ext cx="1965960" cy="1463040"/>
          </a:xfrm>
          <a:prstGeom prst="rect">
            <a:avLst/>
          </a:prstGeom>
          <a:solidFill>
            <a:srgbClr val="0D335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94576" y="12344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₹1,517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94576" y="1737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Premium per Policy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94576" y="2011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 by Insurance Amount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154680"/>
            <a:ext cx="3931920" cy="310896"/>
          </a:xfrm>
          <a:prstGeom prst="rect">
            <a:avLst/>
          </a:prstGeom>
          <a:solidFill>
            <a:srgbClr val="0D3350"/>
          </a:solidFill>
          <a:ln w="12700">
            <a:solidFill>
              <a:srgbClr val="0D33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004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0" y="32004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502152"/>
            <a:ext cx="3931920" cy="310896"/>
          </a:xfrm>
          <a:prstGeom prst="rect">
            <a:avLst/>
          </a:prstGeom>
          <a:solidFill>
            <a:srgbClr val="0A2540"/>
          </a:solidFill>
          <a:ln w="12700">
            <a:solidFill>
              <a:srgbClr val="0D33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478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0" y="35478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849624"/>
            <a:ext cx="3931920" cy="310896"/>
          </a:xfrm>
          <a:prstGeom prst="rect">
            <a:avLst/>
          </a:prstGeom>
          <a:solidFill>
            <a:srgbClr val="0D3350"/>
          </a:solidFill>
          <a:ln w="12700">
            <a:solidFill>
              <a:srgbClr val="0D33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8953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0" y="389534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197096"/>
            <a:ext cx="3931920" cy="310896"/>
          </a:xfrm>
          <a:prstGeom prst="rect">
            <a:avLst/>
          </a:prstGeom>
          <a:solidFill>
            <a:srgbClr val="0A2540"/>
          </a:solidFill>
          <a:ln w="12700">
            <a:solidFill>
              <a:srgbClr val="0D33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428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0" y="4242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544568"/>
            <a:ext cx="3931920" cy="310896"/>
          </a:xfrm>
          <a:prstGeom prst="rect">
            <a:avLst/>
          </a:prstGeom>
          <a:solidFill>
            <a:srgbClr val="0D3350"/>
          </a:solidFill>
          <a:ln w="12700">
            <a:solidFill>
              <a:srgbClr val="0D33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5902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0" y="45902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8.16%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2743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Opportunity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46320" y="3200400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3172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 leads penetration (0.2212%) — model for replication nationally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46320" y="3566160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35387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leads by amount (18.8%) — deepen product mix here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46320" y="3931920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74920" y="39044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Lakshadweep lowest adoption — zero coverage, urgent outreach needed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46320" y="4297680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4920" y="42702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premium ₹1,517 — bundling with UPI reduces friction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46320" y="4663440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74920" y="46360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Dadra &amp; NH, Andaman, Meghalaya in top untapped markets list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0F2D"/>
          </a:solidFill>
          <a:ln w="12700">
            <a:solidFill>
              <a:srgbClr val="120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4 &amp;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Expansion  &amp;  User Growth Strategy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411480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61288"/>
            <a:ext cx="3840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Case 4 — Market Expansion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64208"/>
            <a:ext cx="137160" cy="137160"/>
          </a:xfrm>
          <a:prstGeom prst="ellipse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6367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#1: ₹3,48,524.9Cr · 2796.44M txns · Avg ₹1,246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139696"/>
            <a:ext cx="137160" cy="137160"/>
          </a:xfrm>
          <a:prstGeom prst="ellipse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1122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#2: ₹3,37,289.9Cr · 2835.77M txns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615184"/>
            <a:ext cx="137160" cy="137160"/>
          </a:xfrm>
          <a:prstGeom prst="ellipse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5877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Urban District tops both amount &amp; user count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090672"/>
            <a:ext cx="137160" cy="137160"/>
          </a:xfrm>
          <a:prstGeom prst="ellipse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063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500072 (Telangana) is #1 pincode — highest transaction value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566160"/>
            <a:ext cx="137160" cy="137160"/>
          </a:xfrm>
          <a:prstGeom prst="ellipse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5387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highest volume expansion target (below avg value)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4041648"/>
            <a:ext cx="137160" cy="137160"/>
          </a:xfrm>
          <a:prstGeom prst="ellipse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014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Nagaland shows 160% YoY growth — fastest emerging state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161288"/>
            <a:ext cx="3840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Case 5 — User Growth Strategy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1664208"/>
            <a:ext cx="137160" cy="1371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16367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22 states · Medium: 3 states · Low: 6 states (Q1 2024)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2139696"/>
            <a:ext cx="137160" cy="1371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21122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Meghalaya leads engagement (score 500+) — highest in India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92040" y="2615184"/>
            <a:ext cx="137160" cy="1371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25877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Nagaland: 160% YoY growth — top fastest growing state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3090672"/>
            <a:ext cx="137160" cy="1371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3063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Urban: 18M registered users — #1 district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3566160"/>
            <a:ext cx="137160" cy="1371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02352" y="35387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Pincode 201301 (Uttar Pradesh): 1M users — top pincode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2040" y="4041648"/>
            <a:ext cx="137160" cy="1371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4014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Chandigarh, Delhi, Puducherry in low engagement category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0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District Level Insights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States — Transaction Amount (All Time)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846320" cy="292608"/>
          </a:xfrm>
          <a:prstGeom prst="rect">
            <a:avLst/>
          </a:prstGeom>
          <a:solidFill>
            <a:srgbClr val="1C1240"/>
          </a:solidFill>
          <a:ln w="12700">
            <a:solidFill>
              <a:srgbClr val="2E1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63677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73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6367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94560" y="16367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₹3,48,524.9Cr · 2796.44M · Avg ₹1,246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846320" cy="292608"/>
          </a:xfrm>
          <a:prstGeom prst="rect">
            <a:avLst/>
          </a:prstGeom>
          <a:solidFill>
            <a:srgbClr val="160F38"/>
          </a:solidFill>
          <a:ln w="12700">
            <a:solidFill>
              <a:srgbClr val="2E1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5681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73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19568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94560" y="19568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₹3,37,289.9Cr · 2835.77M · Avg ₹1,189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4846320" cy="292608"/>
          </a:xfrm>
          <a:prstGeom prst="rect">
            <a:avLst/>
          </a:prstGeom>
          <a:solidFill>
            <a:srgbClr val="1C1240"/>
          </a:solidFill>
          <a:ln w="12700">
            <a:solidFill>
              <a:srgbClr val="2E1F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7685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73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22768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94560" y="22768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₹3,20,376.9Cr · 2179.39M · Avg ₹1,470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2560320"/>
            <a:ext cx="4846320" cy="292608"/>
          </a:xfrm>
          <a:prstGeom prst="rect">
            <a:avLst/>
          </a:prstGeom>
          <a:solidFill>
            <a:srgbClr val="160F38"/>
          </a:solidFill>
          <a:ln w="12700">
            <a:solidFill>
              <a:srgbClr val="2E1F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59689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73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25968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andhra-pradesh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94560" y="25968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₹3,01,272.6Cr · 1755.43M · Avg ₹1,716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5760" y="2880360"/>
            <a:ext cx="4846320" cy="292608"/>
          </a:xfrm>
          <a:prstGeom prst="rect">
            <a:avLst/>
          </a:prstGeom>
          <a:solidFill>
            <a:srgbClr val="1C1240"/>
          </a:solidFill>
          <a:ln w="12700">
            <a:solidFill>
              <a:srgbClr val="2E1F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1693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73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29169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uttar-pradesh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94560" y="29169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₹2,47,754.3Cr · 1785.30M · Avg ₹1,388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5760" y="3200400"/>
            <a:ext cx="4846320" cy="292608"/>
          </a:xfrm>
          <a:prstGeom prst="rect">
            <a:avLst/>
          </a:prstGeom>
          <a:solidFill>
            <a:srgbClr val="160F38"/>
          </a:solidFill>
          <a:ln w="12700">
            <a:solidFill>
              <a:srgbClr val="2E1F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23697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73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32369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94560" y="32369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₹2,35,050.0Cr · 1599.47M · Avg ₹1,470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65760" y="3520440"/>
            <a:ext cx="4846320" cy="292608"/>
          </a:xfrm>
          <a:prstGeom prst="rect">
            <a:avLst/>
          </a:prstGeom>
          <a:solidFill>
            <a:srgbClr val="1C1240"/>
          </a:solidFill>
          <a:ln w="12700">
            <a:solidFill>
              <a:srgbClr val="2E1F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55701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73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" y="35570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bihar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194560" y="35570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₹1,63,773.7Cr · 1078.73M · Avg ₹1,518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65760" y="3840480"/>
            <a:ext cx="4846320" cy="292608"/>
          </a:xfrm>
          <a:prstGeom prst="rect">
            <a:avLst/>
          </a:prstGeom>
          <a:solidFill>
            <a:srgbClr val="160F38"/>
          </a:solidFill>
          <a:ln w="12700">
            <a:solidFill>
              <a:srgbClr val="2E1F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87705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73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" y="38770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madhya-pradesh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194560" y="38770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₹1,62,542.0Cr · 1286.16M · Avg ₹1,264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65760" y="4160520"/>
            <a:ext cx="4846320" cy="292608"/>
          </a:xfrm>
          <a:prstGeom prst="rect">
            <a:avLst/>
          </a:prstGeom>
          <a:solidFill>
            <a:srgbClr val="1C1240"/>
          </a:solidFill>
          <a:ln w="12700">
            <a:solidFill>
              <a:srgbClr val="2E1F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19709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73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" y="41970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west-bengal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194560" y="41970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₹1,42,202.6Cr · 836.41M  · Avg ₹1,700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65760" y="4480560"/>
            <a:ext cx="4846320" cy="292608"/>
          </a:xfrm>
          <a:prstGeom prst="rect">
            <a:avLst/>
          </a:prstGeom>
          <a:solidFill>
            <a:srgbClr val="160F38"/>
          </a:solidFill>
          <a:ln w="12700">
            <a:solidFill>
              <a:srgbClr val="2E1F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51713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73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" y="45171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odisha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194560" y="45171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₹1,15,638.9Cr · 864.18M  · Avg ₹1,338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577840" y="1143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Insights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577840" y="1618488"/>
            <a:ext cx="137160" cy="1371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88152" y="15910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Urban (karnataka): #1 district by amount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577840" y="2075688"/>
            <a:ext cx="137160" cy="1371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88152" y="20482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District (maharashtra): #2 by amount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577840" y="2532888"/>
            <a:ext cx="137160" cy="1371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88152" y="25054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Rangareddy District (telangana): #3 — top in Telangana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77840" y="2990088"/>
            <a:ext cx="137160" cy="1371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88152" y="29626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Jaipur District (rajasthan): #4 state leader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577840" y="3447288"/>
            <a:ext cx="137160" cy="1371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88152" y="34198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pincode: 500072 (telangana) highest txn value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577840" y="39776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Filter — Dashboard Feature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577840" y="431596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filter in Explore Data page drills into districts, pincodes &amp; quarterly trends per state.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0F2D"/>
          </a:solidFill>
          <a:ln w="12700">
            <a:solidFill>
              <a:srgbClr val="120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651760" cy="457200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719072"/>
            <a:ext cx="2423160" cy="530352"/>
          </a:xfrm>
          <a:prstGeom prst="rect">
            <a:avLst/>
          </a:prstGeom>
          <a:solidFill>
            <a:srgbClr val="F8F5FF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7830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KPI cards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2377440"/>
            <a:ext cx="2423160" cy="530352"/>
          </a:xfrm>
          <a:prstGeom prst="rect">
            <a:avLst/>
          </a:prstGeom>
          <a:solidFill>
            <a:srgbClr val="F8F5FF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44144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growth trend 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3035808"/>
            <a:ext cx="2423160" cy="530352"/>
          </a:xfrm>
          <a:prstGeom prst="rect">
            <a:avLst/>
          </a:prstGeom>
          <a:solidFill>
            <a:srgbClr val="F8F5FF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309981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donut chart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3694176"/>
            <a:ext cx="2423160" cy="530352"/>
          </a:xfrm>
          <a:prstGeom prst="rect">
            <a:avLst/>
          </a:prstGeom>
          <a:solidFill>
            <a:srgbClr val="F8F5FF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75818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states &amp; brands list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54680" y="114300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143000"/>
            <a:ext cx="2651760" cy="4572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1887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Explore Data (Map)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64408" y="1719072"/>
            <a:ext cx="2423160" cy="530352"/>
          </a:xfrm>
          <a:prstGeom prst="rect">
            <a:avLst/>
          </a:prstGeom>
          <a:solidFill>
            <a:srgbClr val="F8F5FF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17830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choropleth map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64408" y="2377440"/>
            <a:ext cx="2423160" cy="530352"/>
          </a:xfrm>
          <a:prstGeom prst="rect">
            <a:avLst/>
          </a:prstGeom>
          <a:solidFill>
            <a:srgbClr val="F8F5FF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244144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Transactions/Users/Insurance toggle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64408" y="3035808"/>
            <a:ext cx="2423160" cy="530352"/>
          </a:xfrm>
          <a:prstGeom prst="rect">
            <a:avLst/>
          </a:prstGeom>
          <a:solidFill>
            <a:srgbClr val="F8F5FF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309981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filter — district drill-down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64408" y="3694176"/>
            <a:ext cx="2423160" cy="530352"/>
          </a:xfrm>
          <a:prstGeom prst="rect">
            <a:avLst/>
          </a:prstGeom>
          <a:solidFill>
            <a:srgbClr val="F8F5FF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9272" y="375818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Districts, Pincodes ranked list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114300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1143000"/>
            <a:ext cx="265176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1887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Business Case Study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44768" y="1719072"/>
            <a:ext cx="2423160" cy="530352"/>
          </a:xfrm>
          <a:prstGeom prst="rect">
            <a:avLst/>
          </a:prstGeom>
          <a:solidFill>
            <a:srgbClr val="F8F5FF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17830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to select 5 case studies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44768" y="2377440"/>
            <a:ext cx="2423160" cy="530352"/>
          </a:xfrm>
          <a:prstGeom prst="rect">
            <a:avLst/>
          </a:prstGeom>
          <a:solidFill>
            <a:srgbClr val="F8F5FF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244144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sub-tabs per study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44768" y="3035808"/>
            <a:ext cx="2423160" cy="530352"/>
          </a:xfrm>
          <a:prstGeom prst="rect">
            <a:avLst/>
          </a:prstGeom>
          <a:solidFill>
            <a:srgbClr val="F8F5FF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9632" y="309981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SQL-powered Plotly charts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44768" y="3694176"/>
            <a:ext cx="2423160" cy="530352"/>
          </a:xfrm>
          <a:prstGeom prst="rect">
            <a:avLst/>
          </a:prstGeom>
          <a:solidFill>
            <a:srgbClr val="F8F5FF"/>
          </a:solidFill>
          <a:ln w="12700">
            <a:solidFill>
              <a:srgbClr val="E2D9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9632" y="375818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cards per chart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739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  streamlit run demo_dashboard.py  →  http://localhost:8501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0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1097280"/>
          </a:xfrm>
          <a:prstGeom prst="rect">
            <a:avLst/>
          </a:prstGeom>
          <a:solidFill>
            <a:srgbClr val="1C1240"/>
          </a:solidFill>
          <a:ln w="1270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530352" cy="109728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63040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1234440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Urban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1545336"/>
            <a:ext cx="34015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district with highest txn value. Dedicated merchant partnership programs + premium product upselling here.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386584"/>
            <a:ext cx="4114800" cy="1097280"/>
          </a:xfrm>
          <a:prstGeom prst="rect">
            <a:avLst/>
          </a:prstGeom>
          <a:solidFill>
            <a:srgbClr val="1C1240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86584"/>
            <a:ext cx="530352" cy="10972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706624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2478024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Penetration Push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" y="2788920"/>
            <a:ext cx="34015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 model (0.2212%) should be replicated. Lakshadweep &amp; Andaman have near-zero coverage — immediate outreach needed.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630168"/>
            <a:ext cx="4114800" cy="1097280"/>
          </a:xfrm>
          <a:prstGeom prst="rect">
            <a:avLst/>
          </a:prstGeom>
          <a:solidFill>
            <a:srgbClr val="1C12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30168"/>
            <a:ext cx="5303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950208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112" y="3721608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Low Engagement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6112" y="4032504"/>
            <a:ext cx="34015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states (Chandigarh, Delhi, Puducherry etc.) show Low engagement. Push notifications + cashback to reactivate dormant users.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143000"/>
            <a:ext cx="4114800" cy="1097280"/>
          </a:xfrm>
          <a:prstGeom prst="rect">
            <a:avLst/>
          </a:prstGeom>
          <a:solidFill>
            <a:srgbClr val="1C124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143000"/>
            <a:ext cx="530352" cy="10972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463040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76672" y="1234440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North-east Growth Play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76672" y="1545336"/>
            <a:ext cx="34015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Nagaland 160% YoY, Arunachal Pradesh, Meghalaya fastest growing. Invest in regional campaigns now before saturation.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386584"/>
            <a:ext cx="4114800" cy="1097280"/>
          </a:xfrm>
          <a:prstGeom prst="rect">
            <a:avLst/>
          </a:prstGeom>
          <a:solidFill>
            <a:srgbClr val="1C1240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386584"/>
            <a:ext cx="530352" cy="109728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706624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76672" y="2478024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State Targets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76672" y="2788920"/>
            <a:ext cx="34015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&amp; Karnataka highest volume but below avg value. Premium UPI products + merchant finance are the levers.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630168"/>
            <a:ext cx="4114800" cy="1097280"/>
          </a:xfrm>
          <a:prstGeom prst="rect">
            <a:avLst/>
          </a:prstGeom>
          <a:solidFill>
            <a:srgbClr val="1C1240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30168"/>
            <a:ext cx="530352" cy="10972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950208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76672" y="3721608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Pincode-level Targeting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76672" y="4032504"/>
            <a:ext cx="34015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500072 (Telangana), 201301 (UP) top pincodes — hyper-local merchant tie-ups in these zones yield highest ROI.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0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4572000" cy="4572000"/>
          </a:xfrm>
          <a:prstGeom prst="ellipse">
            <a:avLst/>
          </a:prstGeom>
          <a:solidFill>
            <a:srgbClr val="6739B7">
              <a:alpha val="12000"/>
            </a:srgbClr>
          </a:solidFill>
          <a:ln w="12700">
            <a:solidFill>
              <a:srgbClr val="6739B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926080"/>
            <a:ext cx="2926080" cy="2926080"/>
          </a:xfrm>
          <a:prstGeom prst="ellipse">
            <a:avLst/>
          </a:prstGeom>
          <a:solidFill>
            <a:srgbClr val="00C2FF">
              <a:alpha val="8000"/>
            </a:srgbClr>
          </a:solidFill>
          <a:ln w="12700">
            <a:solidFill>
              <a:srgbClr val="00C2FF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Pulse  |  Transaction Insights Dashboard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200400" cy="54864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81051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= 75.79% of all transaction amount (₹22,32,737 Cr) — dominates all categories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313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23408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#1 at ₹3,48,524.9Cr · Maharashtra #2 · Telangana #3 — southern states dominate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287121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530.08M registered users · 32.63B app opens · Meghalaya highest engagement (500+ score)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3741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340156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Insurance: 1,274K policies · ₹193Cr/quarter · Kerala leads penetration at 0.2212%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9044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0120" y="393192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Nagaland 160% YoY growth — north-east emerging fastest · Bengaluru Urban #1 district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3159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663440"/>
            <a:ext cx="2606040" cy="292608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6634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monthly auto-refresh pipeline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4663440"/>
            <a:ext cx="2606040" cy="292608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46634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Streamlit Cloud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4663440"/>
            <a:ext cx="2606040" cy="292608"/>
          </a:xfrm>
          <a:prstGeom prst="rect">
            <a:avLst/>
          </a:prstGeom>
          <a:solidFill>
            <a:srgbClr val="6739B7"/>
          </a:solidFill>
          <a:ln w="12700">
            <a:solidFill>
              <a:srgbClr val="6739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46634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with real-time API data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PhonePe Pulse — Transaction Insights Dashboard</dc:title>
  <dc:subject>PptxGenJS Presentation</dc:subject>
  <dc:creator>PhonePe Analytics</dc:creator>
  <cp:lastModifiedBy>PhonePe Analytics</cp:lastModifiedBy>
  <cp:revision>1</cp:revision>
  <dcterms:created xsi:type="dcterms:W3CDTF">2026-03-18T14:25:33Z</dcterms:created>
  <dcterms:modified xsi:type="dcterms:W3CDTF">2026-03-18T14:25:33Z</dcterms:modified>
</cp:coreProperties>
</file>